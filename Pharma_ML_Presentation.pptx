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73" r:id="rId3"/>
    <p:sldId id="272" r:id="rId4"/>
    <p:sldId id="265" r:id="rId6"/>
    <p:sldId id="260" r:id="rId7"/>
    <p:sldId id="261" r:id="rId8"/>
    <p:sldId id="262" r:id="rId9"/>
    <p:sldId id="266" r:id="rId10"/>
    <p:sldId id="271" r:id="rId11"/>
    <p:sldId id="270" r:id="rId12"/>
    <p:sldId id="263" r:id="rId13"/>
    <p:sldId id="264" r:id="rId14"/>
  </p:sldIdLst>
  <p:sldSz cx="9144000" cy="5143500" type="screen16x9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Georgia" panose="02040502050405020303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44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09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31;g155e29274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16" name="Google Shape;132;g155e292743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31;g155e29274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16" name="Google Shape;132;g155e292743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138;g191c162e9f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24" name="Google Shape;139;g191c162e9f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400"/>
              <a:buFont typeface="Times New Roman" panose="02020603050405020304"/>
              <a:buChar char="●"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145;g20a06bbd68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29" name="Google Shape;146;g20a06bbd68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52;g2224b602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34" name="Google Shape;153;g2224b6020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52;g2224b602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34" name="Google Shape;153;g2224b6020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52;g2224b602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34" name="Google Shape;153;g2224b6020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52;g2224b602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34" name="Google Shape;153;g2224b6020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167;g155e2927439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39" name="Google Shape;168;g155e2927439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174;g155e2927439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43" name="Google Shape;175;g155e2927439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0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1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2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3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048583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4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5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048586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7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88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1048589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0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1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1048592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3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4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1048595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6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597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598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048599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8600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2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1048652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3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4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048655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6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57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658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659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7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8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9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8610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/>
        </p:txBody>
      </p:sp>
      <p:sp>
        <p:nvSpPr>
          <p:cNvPr id="1048611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6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7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8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8679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/>
        </p:txBody>
      </p:sp>
      <p:sp>
        <p:nvSpPr>
          <p:cNvPr id="1048680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/>
        </p:txBody>
      </p:sp>
      <p:sp>
        <p:nvSpPr>
          <p:cNvPr id="1048681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3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4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5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8686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5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6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7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8648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/>
        </p:txBody>
      </p:sp>
      <p:sp>
        <p:nvSpPr>
          <p:cNvPr id="1048649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8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1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048689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0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1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692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2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048693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4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5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048696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7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98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699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48700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2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3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4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8705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8706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/>
        </p:txBody>
      </p:sp>
      <p:sp>
        <p:nvSpPr>
          <p:cNvPr id="1048707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1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2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3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lvl1pPr>
          </a:lstStyle>
          <a:p/>
        </p:txBody>
      </p:sp>
      <p:sp>
        <p:nvSpPr>
          <p:cNvPr id="1048664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6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048666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7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68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048669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0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671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8672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8673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/>
        </p:txBody>
      </p:sp>
      <p:sp>
        <p:nvSpPr>
          <p:cNvPr id="1048674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 panose="020F0502020204030204"/>
              <a:buChar char="●"/>
              <a:defRPr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●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●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Rectangle 2"/>
          <p:cNvSpPr>
            <a:spLocks noChangeArrowheads="1"/>
          </p:cNvSpPr>
          <p:nvPr/>
        </p:nvSpPr>
        <p:spPr bwMode="auto">
          <a:xfrm>
            <a:off x="4950198" y="2372763"/>
            <a:ext cx="3520096" cy="875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en-US" sz="1200" b="1" u="sng" dirty="0">
                <a:latin typeface="Times New Roman" panose="02020603050405020304" pitchFamily="18" charset="0"/>
              </a:rPr>
              <a:t>SUPERVISED BY</a:t>
            </a:r>
            <a:endParaRPr lang="en-US" altLang="en-US" sz="1200" b="1" u="sng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Name: </a:t>
            </a:r>
            <a:r>
              <a:rPr lang="en-US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Hoshiyar Singh </a:t>
            </a:r>
            <a:r>
              <a:rPr lang="en-US" alt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Kanyal</a:t>
            </a:r>
            <a:endParaRPr lang="en-US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US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048603" name="Rectangle 6"/>
          <p:cNvSpPr>
            <a:spLocks noChangeArrowheads="1"/>
          </p:cNvSpPr>
          <p:nvPr/>
        </p:nvSpPr>
        <p:spPr bwMode="auto">
          <a:xfrm>
            <a:off x="906145" y="2272665"/>
            <a:ext cx="2996565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en-US" sz="1200" b="1" u="sng" dirty="0">
                <a:latin typeface="Times New Roman" panose="02020603050405020304" pitchFamily="18" charset="0"/>
              </a:rPr>
              <a:t>PRESENTED BY</a:t>
            </a:r>
            <a:endParaRPr lang="en-US" altLang="en-US" sz="1200" b="1" u="sng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300" dirty="0">
                <a:latin typeface="Times New Roman" panose="02020603050405020304" pitchFamily="18" charset="0"/>
              </a:rPr>
              <a:t>1. </a:t>
            </a:r>
            <a:r>
              <a:rPr lang="en-US" altLang="en-US" sz="1300" dirty="0">
                <a:latin typeface="Times New Roman" panose="02020603050405020304" pitchFamily="18" charset="0"/>
                <a:sym typeface="+mn-ea"/>
              </a:rPr>
              <a:t>Arya Gupta (2302900100059)</a:t>
            </a:r>
            <a:endParaRPr lang="en-US" alt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300" dirty="0">
                <a:latin typeface="Times New Roman" panose="02020603050405020304" pitchFamily="18" charset="0"/>
              </a:rPr>
              <a:t>2. Abhay Mishra (2302900100004)</a:t>
            </a:r>
            <a:endParaRPr lang="en-US" alt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300" dirty="0">
                <a:latin typeface="Times New Roman" panose="02020603050405020304" pitchFamily="18" charset="0"/>
              </a:rPr>
              <a:t>3. Abhishek Kumar Pal (230290010007)</a:t>
            </a:r>
            <a:endParaRPr lang="en-US" altLang="en-US" sz="13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300" dirty="0">
                <a:latin typeface="Times New Roman" panose="02020603050405020304" pitchFamily="18" charset="0"/>
              </a:rPr>
              <a:t>4. Abhishek Singh (2302900100010)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048605" name="Text Box 4"/>
          <p:cNvSpPr txBox="1">
            <a:spLocks noChangeArrowheads="1"/>
          </p:cNvSpPr>
          <p:nvPr/>
        </p:nvSpPr>
        <p:spPr bwMode="auto">
          <a:xfrm>
            <a:off x="1354455" y="946150"/>
            <a:ext cx="6531610" cy="10934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99FF"/>
            </a:solidFill>
            <a:miter lim="800000"/>
          </a:ln>
        </p:spPr>
        <p:txBody>
          <a:bodyPr wrap="square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Id:-2023CSEPID28</a:t>
            </a: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7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“PHARMNEX: </a:t>
            </a:r>
            <a:r>
              <a:rPr lang="en-US" altLang="en-US" sz="17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Blockchain and ML-Based Pharmaceutical Supply Chain</a:t>
            </a:r>
            <a:r>
              <a:rPr lang="en-US" sz="17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17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7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Picture 10" descr="IMG_20230426_160521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144569" y="264813"/>
            <a:ext cx="770831" cy="7341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4897" y="3675043"/>
            <a:ext cx="733425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>
              <a:lnSpc>
                <a:spcPct val="10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b="1" strike="noStrike" spc="-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ABES Institute of Technology , Ghaziabad</a:t>
            </a:r>
            <a:endParaRPr lang="en-IN" sz="1400" b="0" strike="noStrike" spc="-1" dirty="0">
              <a:latin typeface="Arial" panose="020B0604020202020204"/>
            </a:endParaRPr>
          </a:p>
          <a:p>
            <a:pPr marL="27305" algn="ctr">
              <a:lnSpc>
                <a:spcPct val="10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b="1" strike="noStrike" spc="-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Affiliated to </a:t>
            </a:r>
            <a:endParaRPr lang="en-IN" sz="1400" b="0" strike="noStrike" spc="-1" dirty="0">
              <a:latin typeface="Arial" panose="020B0604020202020204"/>
            </a:endParaRPr>
          </a:p>
          <a:p>
            <a:pPr marL="27305" algn="ctr">
              <a:lnSpc>
                <a:spcPct val="10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b="1" strike="noStrike" spc="-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DR. A.P.J.  Abdul Kalam Technical University, Lucknow</a:t>
            </a:r>
            <a:endParaRPr lang="en-IN" spc="-1" dirty="0">
              <a:ea typeface="Times New Roman" panose="02020603050405020304"/>
            </a:endParaRPr>
          </a:p>
          <a:p>
            <a:pPr marL="27305" algn="ctr">
              <a:lnSpc>
                <a:spcPct val="10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b="1" strike="noStrike" spc="-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Session 2025-26 (Even Semester)</a:t>
            </a:r>
            <a:endParaRPr lang="en-IN" sz="1400" b="0" strike="noStrike" spc="-1" dirty="0"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0857" y="1731856"/>
            <a:ext cx="5680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" algn="ctr">
              <a:lnSpc>
                <a:spcPct val="100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en-IN" sz="1400" b="1" strike="noStrike" spc="-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Department of Computer Science &amp; Engineering </a:t>
            </a:r>
            <a:endParaRPr lang="en-IN" sz="1400" b="0" strike="noStrike" spc="-1" dirty="0">
              <a:latin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8868"/>
            <a:ext cx="17240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34;p14"/>
          <p:cNvSpPr txBox="1">
            <a:spLocks noGrp="1"/>
          </p:cNvSpPr>
          <p:nvPr>
            <p:ph type="title"/>
          </p:nvPr>
        </p:nvSpPr>
        <p:spPr>
          <a:xfrm>
            <a:off x="831850" y="276225"/>
            <a:ext cx="7505700" cy="78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3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4" name="Google Shape;136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" name="Google Shape;134;p14"/>
          <p:cNvSpPr txBox="1"/>
          <p:nvPr/>
        </p:nvSpPr>
        <p:spPr>
          <a:xfrm>
            <a:off x="496675" y="1182532"/>
            <a:ext cx="7840719" cy="349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STATEMENT/RESEARCH GAP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REFRENCES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</a:pP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34;p14"/>
          <p:cNvSpPr txBox="1">
            <a:spLocks noGrp="1"/>
          </p:cNvSpPr>
          <p:nvPr>
            <p:ph type="title"/>
          </p:nvPr>
        </p:nvSpPr>
        <p:spPr>
          <a:xfrm>
            <a:off x="761365" y="180975"/>
            <a:ext cx="7678420" cy="664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GB" sz="32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32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4" name="Google Shape;136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" name="Text Box 2"/>
          <p:cNvSpPr txBox="1"/>
          <p:nvPr/>
        </p:nvSpPr>
        <p:spPr>
          <a:xfrm>
            <a:off x="328295" y="581025"/>
            <a:ext cx="8611235" cy="4356735"/>
          </a:xfrm>
          <a:prstGeom prst="rect">
            <a:avLst/>
          </a:prstGeom>
        </p:spPr>
        <p:txBody>
          <a:bodyPr>
            <a:noAutofit/>
          </a:bodyPr>
          <a:p>
            <a:pPr algn="l">
              <a:spcAft>
                <a:spcPct val="60000"/>
              </a:spcAft>
            </a:pPr>
            <a:r>
              <a:rPr lang="en-US" altLang="zh-CN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lang="en-US" altLang="zh-CN" sz="1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Counterfeit/substandard medicines account for up to 10% of the global drug supply, rising to 30% in developing nations. They cause major health and economic losses, including preventable deaths and losses to manufacturers.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provides immutable traceability, but remains largely reactive rather than predictive.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Font typeface="Arial" panose="020B0604020202020204"/>
              <a:buNone/>
            </a:pP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ct val="60000"/>
              </a:spcAft>
            </a:pPr>
            <a:r>
              <a:rPr lang="en-US" altLang="zh-CN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 in Prior Work</a:t>
            </a:r>
            <a:endParaRPr lang="en-US" altLang="zh-CN" sz="1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Abbas et al. (2020) integrates blockchain and ML, but ML is used mainly for drug recommendation, not fraud or counterfeit detection.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literature does not report using blockchain transaction behaviour as ML input for pharmaceutical supply chain security.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Font typeface="Arial" panose="020B0604020202020204"/>
              <a:buNone/>
            </a:pP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ct val="60000"/>
              </a:spcAft>
            </a:pPr>
            <a:r>
              <a:rPr lang="en-US" altLang="zh-CN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</a:t>
            </a:r>
            <a:endParaRPr lang="en-US" altLang="zh-CN" sz="1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 unified Blockchain–ML framework with three modules: Fraud &amp; Anomaly Detection, Counterfeit Risk Scoring, and Demand Forecasting, using Algorand-derived data.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41;p15"/>
          <p:cNvSpPr txBox="1">
            <a:spLocks noGrp="1"/>
          </p:cNvSpPr>
          <p:nvPr>
            <p:ph type="title"/>
          </p:nvPr>
        </p:nvSpPr>
        <p:spPr>
          <a:xfrm>
            <a:off x="700405" y="141605"/>
            <a:ext cx="7743190" cy="6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 panose="020B0604020202020204"/>
              <a:buNone/>
            </a:pPr>
            <a:r>
              <a:rPr lang="en-GB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sz="32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Google Shape;143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Text Box 3"/>
          <p:cNvSpPr txBox="1"/>
          <p:nvPr/>
        </p:nvSpPr>
        <p:spPr>
          <a:xfrm>
            <a:off x="575310" y="886460"/>
            <a:ext cx="8010525" cy="389255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unified </a:t>
            </a:r>
            <a:r>
              <a:rPr lang="en-US" altLang="zh-C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Blockchain–ML framework</a:t>
            </a: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for pharmaceutical supply chain security using Algorand smart contracts.</a:t>
            </a: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charset="0"/>
              <a:buNone/>
            </a:pP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US" altLang="zh-C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Fraud &amp; Anomaly Detection module</a:t>
            </a: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using Isolation Forest and XGBoost with blockchain-derived behavioural features.</a:t>
            </a: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charset="0"/>
              <a:buNone/>
            </a:pP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</a:t>
            </a:r>
            <a:r>
              <a:rPr lang="en-US" altLang="zh-C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Counterfeit Medicine Risk Scoring module</a:t>
            </a: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using supply-chain metadata without requiring physical samples.</a:t>
            </a: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charset="0"/>
              <a:buNone/>
            </a:pP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Build a blockchain-verified </a:t>
            </a:r>
            <a:r>
              <a:rPr lang="en-US" altLang="zh-C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module</a:t>
            </a: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using LSTM and XGBoost Regression.</a:t>
            </a: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charset="0"/>
              <a:buNone/>
            </a:pP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Evaluate the </a:t>
            </a:r>
            <a:r>
              <a:rPr lang="en-US" altLang="zh-C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of blockchain-derived features</a:t>
            </a: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(transfer count, route deviation, timestamp irregularities)</a:t>
            </a: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on fraud detection and provide an </a:t>
            </a:r>
            <a:r>
              <a:rPr lang="en-US" altLang="zh-C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alerts, risk visualization, and demand insights.</a:t>
            </a:r>
            <a:endParaRPr lang="en-US" altLang="zh-C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48;p16"/>
          <p:cNvSpPr txBox="1">
            <a:spLocks noGrp="1"/>
          </p:cNvSpPr>
          <p:nvPr>
            <p:ph type="title"/>
          </p:nvPr>
        </p:nvSpPr>
        <p:spPr>
          <a:xfrm>
            <a:off x="2401570" y="98425"/>
            <a:ext cx="4082415" cy="652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 panose="020B0604020202020204"/>
              <a:buNone/>
            </a:pPr>
            <a:r>
              <a:rPr lang="en-GB" sz="2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Litrature Survey</a:t>
            </a:r>
            <a:endParaRPr lang="en-GB" sz="2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7" name="Google Shape;150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fld id="{00000000-1234-1234-1234-123412341234}" type="slidenum"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233A44"/>
                </a:solidFill>
                <a:effectLst/>
                <a:uLnTx/>
                <a:uFillTx/>
                <a:latin typeface="Nunito"/>
                <a:sym typeface="Nunito"/>
              </a:rPr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233A44"/>
              </a:solidFill>
              <a:effectLst/>
              <a:uLnTx/>
              <a:uFillTx/>
              <a:latin typeface="Nunito"/>
              <a:sym typeface="Nunito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219710" y="614045"/>
          <a:ext cx="6370955" cy="4258310"/>
        </p:xfrm>
        <a:graphic>
          <a:graphicData uri="http://schemas.openxmlformats.org/drawingml/2006/table">
            <a:tbl>
              <a:tblPr/>
              <a:tblGrid>
                <a:gridCol w="1593215"/>
                <a:gridCol w="1671955"/>
                <a:gridCol w="1513205"/>
                <a:gridCol w="1592580"/>
              </a:tblGrid>
              <a:tr h="396875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Authors, Year</a:t>
                      </a:r>
                      <a:endParaRPr lang="en-US" altLang="zh-CN" sz="1200" b="1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Focus</a:t>
                      </a:r>
                      <a:endParaRPr lang="en-US" altLang="zh-CN" sz="1200" b="1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ML / Method</a:t>
                      </a:r>
                      <a:endParaRPr lang="en-US" altLang="zh-CN" sz="1200" b="1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2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Key Limitation / Gap</a:t>
                      </a:r>
                      <a:endParaRPr lang="en-US" altLang="zh-CN" sz="1200" b="1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930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Abbas et al. (2020)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Blockchain + pharma SCM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N-gram, LightGBM, Sentiment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ML only for drug recommendation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6565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Dashtizadeh et al. (2022)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Pharma traceability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Blockchain; ML proposed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ML not trained or evaluated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7205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Hasan et al. (2024)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Blockchain anomaly detection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XGBoost + SHAP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Cryptocurrency domain; no pharma features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6565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Ashfaq et al. (2022)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Blockchain fraud detection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XGBoost + Random Forest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Financial/Bitcoin domain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6565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Thomson &amp; Varuna (2024)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Counterfeit medicines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RF, NB, SVM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Requires physical sample/image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930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Parvathi et al. (2025)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Blockchain + counterfeit detection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CNN + Ethereum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Still requires physical sample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6565"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Zhu et al. (2021)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Pharma demand forecasting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Cross-series ML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No blockchain; assumes trusted data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6110">
                <a:tc>
                  <a:txBody>
                    <a:bodyPr/>
                    <a:p>
                      <a:pPr marL="0" indent="0" algn="ctr" fontAlgn="t">
                        <a:lnSpc>
                          <a:spcPct val="180000"/>
                        </a:lnSpc>
                      </a:pPr>
                      <a:r>
                        <a:rPr lang="en-US" altLang="zh-CN" sz="1100" b="1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US" altLang="zh-CN" sz="1100" b="1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Blockchain + multi-module pharma intelligence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IF, XGBoost, RF, LSTM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en-US" altLang="zh-CN" sz="1100" b="0" i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Georgia" panose="02040502050405020303"/>
                          <a:cs typeface="Times New Roman" panose="02020603050405020304" pitchFamily="18" charset="0"/>
                        </a:rPr>
                        <a:t>Addresses the combined gap</a:t>
                      </a:r>
                      <a:endParaRPr lang="en-US" altLang="zh-CN" sz="1100" b="0" i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Georgia" panose="02040502050405020303"/>
                        <a:cs typeface="Times New Roman" panose="02020603050405020304" pitchFamily="18" charset="0"/>
                      </a:endParaRPr>
                    </a:p>
                  </a:txBody>
                  <a:tcPr marL="63817" marR="63817" marT="57467" marB="5746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ContentBox"/>
          <p:cNvSpPr txBox="1"/>
          <p:nvPr/>
        </p:nvSpPr>
        <p:spPr>
          <a:xfrm>
            <a:off x="6662420" y="354965"/>
            <a:ext cx="2276475" cy="401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Gap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US"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unified Blockchain–ML system for fraud detection, counterfeit scoring &amp; demand forecasting.</a:t>
            </a:r>
            <a:endParaRPr lang="en-US" alt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en-US"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pharma-specific behavioural features (transfer count, route deviation, ownership hops) used for ML-based fraud detection.</a:t>
            </a:r>
            <a:endParaRPr lang="en-US" alt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en-US"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metadata-only counterfeit risk scoring before physical inspection.</a:t>
            </a:r>
            <a:endParaRPr lang="en-US" alt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"/>
              </a:spcBef>
              <a:buNone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</a:t>
            </a:r>
            <a:endParaRPr lang="en-US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"/>
              </a:spcBef>
              <a:buNone/>
            </a:pPr>
            <a:r>
              <a:rPr lang="en-US" alt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controlled A/B test of blockchain-derived behavioural features for improving ML fraud detection.</a:t>
            </a:r>
            <a:endParaRPr lang="en-US" alt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"/>
              </a:spcBef>
              <a:buNone/>
            </a:pPr>
            <a:r>
              <a:rPr lang="en-US" altLang="en-US"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First metadata-only counterfeit risk scoring module in the reviewed literature.</a:t>
            </a:r>
            <a:endParaRPr lang="en-US" alt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55;p17"/>
          <p:cNvSpPr txBox="1">
            <a:spLocks noGrp="1"/>
          </p:cNvSpPr>
          <p:nvPr>
            <p:ph type="title"/>
          </p:nvPr>
        </p:nvSpPr>
        <p:spPr>
          <a:xfrm>
            <a:off x="819150" y="180975"/>
            <a:ext cx="7505700" cy="570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000"/>
              <a:buFont typeface="Arial" panose="020B0604020202020204"/>
              <a:buNone/>
            </a:pPr>
            <a:r>
              <a:rPr lang="en-GB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Statement/Research Gap</a:t>
            </a: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2" name="Google Shape;157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9" name="ContentBox"/>
          <p:cNvSpPr txBox="1"/>
          <p:nvPr/>
        </p:nvSpPr>
        <p:spPr>
          <a:xfrm>
            <a:off x="201930" y="694690"/>
            <a:ext cx="8737600" cy="309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 algn="l">
              <a:spcBef>
                <a:spcPts val="100"/>
              </a:spcBef>
              <a:buFont typeface="Wingdings" panose="05000000000000000000" charset="0"/>
              <a:buChar char="§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Reactive Traceability Problem: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blockchain confirms fraud after the fact -- no mechanism to predict or flag suspicious transactions proactively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Wingdings" panose="05000000000000000000" charset="0"/>
              <a:buChar char="§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ML-Blockchain Disconnection Problem: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only prior ML+blockchain pharma system (Abbas et al. 2020) never uses blockchain transaction records as ML features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Wingdings" panose="05000000000000000000" charset="0"/>
              <a:buChar char="§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Inspection Bottleneck: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existing counterfeit-detection ML -- including 2025 work -- requires a physical sample; no system scores risk from metadata alone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Wingdings" panose="05000000000000000000" charset="0"/>
              <a:buChar char="§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Measurable Research Contribution: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blockchain-pharma papers treat ML as future work, never empirically testing a hypothesis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Wingdings" panose="05000000000000000000" charset="0"/>
              <a:buChar char="§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Demand-Security Disconnection: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pharma demand forecasting is methodologically mature but entirely decoupled from blockchain-verified, tamper-resistant data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US" sz="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"/>
              </a:spcBef>
              <a:buNone/>
            </a:pPr>
            <a:endParaRPr lang="en-US" sz="7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7990" y="3853180"/>
            <a:ext cx="8464550" cy="1083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ts val="18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Research Gap: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"/>
              </a:spcBef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existing system combines blockchain-native pharmaceutical data with a multi-module ML layer for fraud detection, counterfeit risk scoring, and demand forecasting using pharma-specific behavioural features.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55;p17"/>
          <p:cNvSpPr txBox="1">
            <a:spLocks noGrp="1"/>
          </p:cNvSpPr>
          <p:nvPr>
            <p:ph type="title"/>
          </p:nvPr>
        </p:nvSpPr>
        <p:spPr>
          <a:xfrm>
            <a:off x="2346325" y="101600"/>
            <a:ext cx="4450715" cy="9544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000"/>
              <a:buFont typeface="Arial" panose="020B0604020202020204"/>
              <a:buNone/>
            </a:pPr>
            <a:r>
              <a:rPr lang="en-GB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1" name="Google Shape;156;p17"/>
          <p:cNvSpPr txBox="1">
            <a:spLocks noGrp="1"/>
          </p:cNvSpPr>
          <p:nvPr>
            <p:ph type="body" idx="1"/>
          </p:nvPr>
        </p:nvSpPr>
        <p:spPr>
          <a:xfrm>
            <a:off x="947750" y="1457325"/>
            <a:ext cx="75057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4167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dirty="0"/>
              <a:t>						</a:t>
            </a:r>
            <a:endParaRPr sz="1200" b="1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32" name="Google Shape;157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9" name="ContentBox"/>
          <p:cNvSpPr txBox="1"/>
          <p:nvPr/>
        </p:nvSpPr>
        <p:spPr>
          <a:xfrm>
            <a:off x="168910" y="582930"/>
            <a:ext cx="4403725" cy="429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457200">
              <a:spcBef>
                <a:spcPts val="18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Dual-layer design: Blockchain SCM Layer + ML Intelligence Layer, linked via a Python REST API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Layer: Algorand smart contracts (PyTeal / Algorand Python), ASP.NET (C#) backend, MSSQL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participant roles: Admin, Supplier, Manufacturer, Wholesaler, Distributor, Customer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00"/>
              </a:spcBef>
              <a:buFont typeface="Arial" panose="020B0604020202020204" pitchFamily="34" charset="0"/>
              <a:buNone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spcBef>
                <a:spcPts val="18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1 -- Fraud &amp; Anomaly Detection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(unsupervised) + XGBoost (supervised, synthetic anomaly injection)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transfer count, route deviation, timestamp gaps, ownership hops, verification failures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A/B Experiment: traditional features vs. traditional + blockchain-behavioural features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Box"/>
          <p:cNvSpPr txBox="1"/>
          <p:nvPr/>
        </p:nvSpPr>
        <p:spPr>
          <a:xfrm>
            <a:off x="4485640" y="582930"/>
            <a:ext cx="4453890" cy="429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457200" algn="l">
              <a:spcBef>
                <a:spcPts val="18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2 -- Counterfeit Risk Scoring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classifies each batch as Low / Medium / High counterfeit risk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supply-chain metadata -- supplier reliability, batch size, manufacturing location -- before physical inspection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explainability shown alongside every risk score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l">
              <a:spcBef>
                <a:spcPts val="18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3 -- Inventory Demand Forecasting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+ XGBoost Regression trained on blockchain-verified order history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Forecasts resistant to the data manipulation Module 1 is designed to catch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Bef>
                <a:spcPts val="100"/>
              </a:spcBef>
              <a:buFont typeface="Arial" panose="020B0604020202020204"/>
              <a:buNone/>
            </a:pPr>
            <a:endParaRPr lang="en-US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l">
              <a:spcBef>
                <a:spcPts val="18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Intelligence Dashboard: anomaly alerts, risk heatmaps, demand forecasts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55;p17"/>
          <p:cNvSpPr txBox="1">
            <a:spLocks noGrp="1"/>
          </p:cNvSpPr>
          <p:nvPr>
            <p:ph type="title"/>
          </p:nvPr>
        </p:nvSpPr>
        <p:spPr>
          <a:xfrm>
            <a:off x="3701415" y="137160"/>
            <a:ext cx="1741170" cy="60833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000"/>
              <a:buFont typeface="Arial" panose="020B0604020202020204"/>
              <a:buNone/>
            </a:pPr>
            <a:r>
              <a:rPr lang="en-GB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1" name="Google Shape;156;p17"/>
          <p:cNvSpPr txBox="1">
            <a:spLocks noGrp="1"/>
          </p:cNvSpPr>
          <p:nvPr>
            <p:ph type="body" idx="1"/>
          </p:nvPr>
        </p:nvSpPr>
        <p:spPr>
          <a:xfrm>
            <a:off x="947750" y="1457325"/>
            <a:ext cx="75057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4167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dirty="0"/>
              <a:t>						</a:t>
            </a:r>
            <a:endParaRPr sz="1200" b="1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32" name="Google Shape;157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9" name="ContentBox"/>
          <p:cNvSpPr txBox="1"/>
          <p:nvPr/>
        </p:nvSpPr>
        <p:spPr>
          <a:xfrm>
            <a:off x="167640" y="745490"/>
            <a:ext cx="4313555" cy="350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457200">
              <a:spcBef>
                <a:spcPts val="180"/>
              </a:spcBef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Hypothesis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H1: Blockchain-derived behavioural features improve ML fraud detection accuracy over conventional supply-chain features alone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H0: No statistically significant difference between Experiment A (conventional) and Experiment B (conventional + blockchain-behavioural)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spcBef>
                <a:spcPts val="180"/>
              </a:spcBef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 (macro-averaged), ROC-AUC, Average Precision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 tested via McNemar's test (alpha = 0.05)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compared: Isolation Forest, XGBoost, Random Forest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Box"/>
          <p:cNvSpPr txBox="1"/>
          <p:nvPr/>
        </p:nvSpPr>
        <p:spPr>
          <a:xfrm>
            <a:off x="4373245" y="638175"/>
            <a:ext cx="4565650" cy="4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457200">
              <a:spcBef>
                <a:spcPts val="180"/>
              </a:spcBef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B (with blockchain-behavioural features) expected to show measurably higher F1-score and ROC-AUC than Experiment A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Counterfeit Risk Scoring module expected to correctly flag simulated high-risk batches (unregistered suppliers, route bypassing) before distribution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evaluated via MAE and RMSE on held-out test data; best of LSTM vs. XGBoost Regression selected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spcBef>
                <a:spcPts val="180"/>
              </a:spcBef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Kaggle: Blockchain-Based Medicine Supply Chain Management + synthetic anomaly injection (validated methodology per Hasan et al. 2024)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55;p17"/>
          <p:cNvSpPr txBox="1">
            <a:spLocks noGrp="1"/>
          </p:cNvSpPr>
          <p:nvPr>
            <p:ph type="title"/>
          </p:nvPr>
        </p:nvSpPr>
        <p:spPr>
          <a:xfrm>
            <a:off x="819150" y="20234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000"/>
              <a:buFont typeface="Arial" panose="020B0604020202020204"/>
              <a:buNone/>
            </a:pPr>
            <a:r>
              <a:rPr lang="en-GB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1" name="Google Shape;156;p17"/>
          <p:cNvSpPr txBox="1">
            <a:spLocks noGrp="1"/>
          </p:cNvSpPr>
          <p:nvPr>
            <p:ph type="body" idx="1"/>
          </p:nvPr>
        </p:nvSpPr>
        <p:spPr>
          <a:xfrm>
            <a:off x="947750" y="1457325"/>
            <a:ext cx="75057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4167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dirty="0"/>
              <a:t>						</a:t>
            </a:r>
            <a:endParaRPr sz="1200" b="1" dirty="0">
              <a:highlight>
                <a:schemeClr val="dk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32" name="Google Shape;157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9" name="ContentBox"/>
          <p:cNvSpPr txBox="1"/>
          <p:nvPr/>
        </p:nvSpPr>
        <p:spPr>
          <a:xfrm>
            <a:off x="247015" y="742315"/>
            <a:ext cx="8691880" cy="357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 Blockchain-Enabled Pharmaceutical Supply Chain Security and Intelligence System using Machine Learning on Algorand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Addresses five critical problems: reactive traceability, ML-blockchain disconnection, physical inspection bottleneck, absence of measurable ML research, demand-security disconnection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research contributions: (1) blockchain-behavioural features for fraud detection, (2) metadata-only counterfeit risk scoring, (3) controlled A/B hypothesis-testing experiment, (4) blockchain-verified demand forecasting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 the baseline of Abbas et al. (2020) -- 471 citations -- from passive drug recommendation to active, multi-dimensional supply chain intelligence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"/>
              </a:spcBef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temperature/humidity sensor integration for cold-chain monitoring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for cross-institutional model training without sharing proprietary data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100"/>
              </a:spcBef>
              <a:buFont typeface="Arial" panose="020B0604020202020204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analysis of regulatory inspection reports as an additional risk signal</a:t>
            </a:r>
            <a:endParaRPr lang="en-US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70;p19"/>
          <p:cNvSpPr txBox="1">
            <a:spLocks noGrp="1"/>
          </p:cNvSpPr>
          <p:nvPr>
            <p:ph type="title"/>
          </p:nvPr>
        </p:nvSpPr>
        <p:spPr>
          <a:xfrm>
            <a:off x="885190" y="145080"/>
            <a:ext cx="7505700" cy="5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GB" sz="28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7" name="Google Shape;172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9" name="ContentBox"/>
          <p:cNvSpPr txBox="1"/>
          <p:nvPr/>
        </p:nvSpPr>
        <p:spPr>
          <a:xfrm>
            <a:off x="301625" y="710565"/>
            <a:ext cx="4306570" cy="404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/>
          <a:p>
            <a:pPr algn="just">
              <a:spcBef>
                <a:spcPts val="6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Abbas, K. et al. (2020). A Blockchain and ML-Based Drug Supply Chain Management and Recommendation System. Electronics (MDPI), 9(5), 852.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Gomasta, S.S. et al. (2023). PharmaChain: Blockchain-based drug supply chain provenance verification system. Heliyon, 9(7), e17957.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Dashtizadeh, M. et al. (2022). Secure Blockchain-based Pharmaceutical SCM: Detection of Counterfeit Covid-19 Vaccines. IEEE MysuruCon.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Gazzola, P. et al. (2023). Using the Transparency of Supply Chain Powered by Blockchain -- Case Study of Lavazza. Sustainability (MDPI), 15(10), 7884.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Hasan, M. et al. (2024). Detecting Anomalies in Blockchain Transactions using ML Classifiers. Blockchain: Research and Applications, 5(3).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Ashfaq, T. et al. (2022). A Machine Learning and Blockchain Based Efficient Fraud Detection Mechanism. Sensors (MDPI), 22(19).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"/>
              </a:spcBef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56150" y="906145"/>
            <a:ext cx="4074160" cy="3330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00000"/>
              </a:lnSpc>
              <a:spcBef>
                <a:spcPts val="60"/>
              </a:spcBef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[6]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Wan, F. (2021). XGBoost Based Supply Chain Fraud Detection Model. IEEE ICBAIE.</a:t>
            </a:r>
            <a:endParaRPr 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"/>
              </a:spcBef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[7]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Jumani, F. &amp; Raza, M. (2025). ML for Anomaly Detection in Blockchain. Computers (MDPI), 14(7).</a:t>
            </a:r>
            <a:endParaRPr 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"/>
              </a:spcBef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[8]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Thomson, B.S. &amp; Varuna, W.R. (2024). Analyzing Counterfeit Medicines Using ML Techniques. IC3T 2023, Springer LNNS Vol. 897.</a:t>
            </a:r>
            <a:endParaRPr 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"/>
              </a:spcBef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[9]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Parvathi, K.G. et al. (2025). Blockchain-Enabled Product Tokenization and CNN-Based Counterfeit Detection. MIJARCSE, 11(1).</a:t>
            </a:r>
            <a:endParaRPr 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"/>
              </a:spcBef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[10]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Zhu, X. et al. (2021). Demand Forecasting with Supply-Chain Information and ML. Production and Operations Management, 30(9).</a:t>
            </a:r>
            <a:endParaRPr lang="en-US" sz="1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"/>
              </a:spcBef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[11]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Yani, L.P.E. &amp; Aamer, A. (2023). Demand Forecasting Accuracy in the Pharmaceutical SCM. Int. J. Pharmaceutical and Healthcare Marketing, 17(1).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77;p20"/>
          <p:cNvSpPr txBox="1">
            <a:spLocks noGrp="1"/>
          </p:cNvSpPr>
          <p:nvPr>
            <p:ph type="title"/>
          </p:nvPr>
        </p:nvSpPr>
        <p:spPr>
          <a:xfrm>
            <a:off x="819150" y="1745225"/>
            <a:ext cx="7505700" cy="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Thankyou!</a:t>
            </a:r>
            <a:endParaRPr sz="7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1" name="Google Shape;178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01*335"/>
  <p:tag name="TABLE_ENDDRAG_RECT" val="17*48*501*335"/>
</p:tagLst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9232</Words>
  <Application>WPS Presentation</Application>
  <PresentationFormat>On-screen Show (16:9)</PresentationFormat>
  <Paragraphs>318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</vt:lpstr>
      <vt:lpstr>Nunito</vt:lpstr>
      <vt:lpstr>Calibri</vt:lpstr>
      <vt:lpstr>Times New Roman</vt:lpstr>
      <vt:lpstr>Times New Roman</vt:lpstr>
      <vt:lpstr>Wingdings</vt:lpstr>
      <vt:lpstr>Georgia</vt:lpstr>
      <vt:lpstr>Microsoft YaHei</vt:lpstr>
      <vt:lpstr>Arial Unicode MS</vt:lpstr>
      <vt:lpstr>Shift</vt:lpstr>
      <vt:lpstr>PowerPoint 演示文稿</vt:lpstr>
      <vt:lpstr>INDEX</vt:lpstr>
      <vt:lpstr>Introduction </vt:lpstr>
      <vt:lpstr>Objectives</vt:lpstr>
      <vt:lpstr>Litrature Survey</vt:lpstr>
      <vt:lpstr>Problem Statement/Research Gap </vt:lpstr>
      <vt:lpstr>Proposed Solution</vt:lpstr>
      <vt:lpstr>Results</vt:lpstr>
      <vt:lpstr>Conclusion</vt:lpstr>
      <vt:lpstr>References</vt:lpstr>
      <vt:lpstr>Thankyou!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 suryavanshi</dc:creator>
  <cp:lastModifiedBy>Arya Gupta</cp:lastModifiedBy>
  <cp:revision>65</cp:revision>
  <dcterms:created xsi:type="dcterms:W3CDTF">2023-05-15T05:17:00Z</dcterms:created>
  <dcterms:modified xsi:type="dcterms:W3CDTF">2026-08-16T09:44:22Z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69A203BE9BB74A0DA97DA048C9E636F6_12</vt:lpwstr>
  </property>
  <property fmtid="{D5CDD505-2E9C-101B-9397-08002B2CF9AE}" pid="3" name="KSOProductBuildVer">
    <vt:lpwstr>1033-12.1.0.28032</vt:lpwstr>
  </property>
</Properties>
</file>